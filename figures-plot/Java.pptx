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BC0A-08FE-4FD0-8229-0301E2D46F54}" type="datetimeFigureOut">
              <a:rPr lang="zh-CN" altLang="en-US" smtClean="0"/>
              <a:t>2017/4/18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661D8-C04E-47BC-877C-AB9C2B4D57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9725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BC0A-08FE-4FD0-8229-0301E2D46F54}" type="datetimeFigureOut">
              <a:rPr lang="zh-CN" altLang="en-US" smtClean="0"/>
              <a:t>2017/4/18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661D8-C04E-47BC-877C-AB9C2B4D57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3994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BC0A-08FE-4FD0-8229-0301E2D46F54}" type="datetimeFigureOut">
              <a:rPr lang="zh-CN" altLang="en-US" smtClean="0"/>
              <a:t>2017/4/18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661D8-C04E-47BC-877C-AB9C2B4D57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3671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BC0A-08FE-4FD0-8229-0301E2D46F54}" type="datetimeFigureOut">
              <a:rPr lang="zh-CN" altLang="en-US" smtClean="0"/>
              <a:t>2017/4/18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661D8-C04E-47BC-877C-AB9C2B4D57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8550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BC0A-08FE-4FD0-8229-0301E2D46F54}" type="datetimeFigureOut">
              <a:rPr lang="zh-CN" altLang="en-US" smtClean="0"/>
              <a:t>2017/4/18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661D8-C04E-47BC-877C-AB9C2B4D57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8118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BC0A-08FE-4FD0-8229-0301E2D46F54}" type="datetimeFigureOut">
              <a:rPr lang="zh-CN" altLang="en-US" smtClean="0"/>
              <a:t>2017/4/18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661D8-C04E-47BC-877C-AB9C2B4D57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8894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BC0A-08FE-4FD0-8229-0301E2D46F54}" type="datetimeFigureOut">
              <a:rPr lang="zh-CN" altLang="en-US" smtClean="0"/>
              <a:t>2017/4/18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661D8-C04E-47BC-877C-AB9C2B4D57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3554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BC0A-08FE-4FD0-8229-0301E2D46F54}" type="datetimeFigureOut">
              <a:rPr lang="zh-CN" altLang="en-US" smtClean="0"/>
              <a:t>2017/4/18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661D8-C04E-47BC-877C-AB9C2B4D57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95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BC0A-08FE-4FD0-8229-0301E2D46F54}" type="datetimeFigureOut">
              <a:rPr lang="zh-CN" altLang="en-US" smtClean="0"/>
              <a:t>2017/4/18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661D8-C04E-47BC-877C-AB9C2B4D57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9742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BC0A-08FE-4FD0-8229-0301E2D46F54}" type="datetimeFigureOut">
              <a:rPr lang="zh-CN" altLang="en-US" smtClean="0"/>
              <a:t>2017/4/18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661D8-C04E-47BC-877C-AB9C2B4D57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8782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BC0A-08FE-4FD0-8229-0301E2D46F54}" type="datetimeFigureOut">
              <a:rPr lang="zh-CN" altLang="en-US" smtClean="0"/>
              <a:t>2017/4/18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661D8-C04E-47BC-877C-AB9C2B4D57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0641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B9BC0A-08FE-4FD0-8229-0301E2D46F54}" type="datetimeFigureOut">
              <a:rPr lang="zh-CN" altLang="en-US" smtClean="0"/>
              <a:t>2017/4/18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8661D8-C04E-47BC-877C-AB9C2B4D57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2452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72317892"/>
                  </p:ext>
                </p:extLst>
              </p:nvPr>
            </p:nvGraphicFramePr>
            <p:xfrm>
              <a:off x="1846218" y="719666"/>
              <a:ext cx="8313783" cy="3337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19793"/>
                    <a:gridCol w="1817190"/>
                    <a:gridCol w="1625600"/>
                    <a:gridCol w="1625600"/>
                    <a:gridCol w="1625600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基本数据类型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存储需求</a:t>
                          </a: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字节</a:t>
                          </a: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取值范围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默认值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包装类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byte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p>
                                </m:s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~</m:t>
                                </m:r>
                                <m:sSup>
                                  <m:sSup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p>
                                </m:s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Byte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short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15</m:t>
                                    </m:r>
                                  </m:sup>
                                </m:s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~</m:t>
                                </m:r>
                                <m:sSup>
                                  <m:sSup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15</m:t>
                                    </m:r>
                                  </m:sup>
                                </m:s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Short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int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p>
                                </m:s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~</m:t>
                                </m:r>
                                <m:sSup>
                                  <m:sSup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p>
                                </m:s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Integer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long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63</m:t>
                                    </m:r>
                                  </m:sup>
                                </m:s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~</m:t>
                                </m:r>
                                <m:sSup>
                                  <m:sSup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63</m:t>
                                    </m:r>
                                  </m:sup>
                                </m:s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0L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Long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float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p>
                                </m:s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~</m:t>
                                </m:r>
                                <m:sSup>
                                  <m:sSup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p>
                                </m:s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0.0F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Float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double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63</m:t>
                                    </m:r>
                                  </m:sup>
                                </m:s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~</m:t>
                                </m:r>
                                <m:sSup>
                                  <m:sSup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63</m:t>
                                    </m:r>
                                  </m:sup>
                                </m:s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0.0D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Double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char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0~</m:t>
                                </m:r>
                                <m:sSup>
                                  <m:sSup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sup>
                                </m:s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‘\u0000’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Character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boolean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true/false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false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Boolean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72317892"/>
                  </p:ext>
                </p:extLst>
              </p:nvPr>
            </p:nvGraphicFramePr>
            <p:xfrm>
              <a:off x="1846218" y="719666"/>
              <a:ext cx="8313783" cy="3337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19793"/>
                    <a:gridCol w="1817190"/>
                    <a:gridCol w="1625600"/>
                    <a:gridCol w="1625600"/>
                    <a:gridCol w="1625600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基本数据类型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存储需求</a:t>
                          </a: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字节</a:t>
                          </a: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取值范围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默认值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包装类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byte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211610" t="-111475" r="-200749" b="-7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Byte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short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211610" t="-211475" r="-200749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Short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int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211610" t="-311475" r="-200749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Integer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long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211610" t="-418333" r="-200749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0L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Long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float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211610" t="-509836" r="-200749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0.0F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Float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double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211610" t="-609836" r="-20074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0.0D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Double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char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211610" t="-709836" r="-20074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‘\u0000’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Character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boolean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true/false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false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Boolean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09217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9135244"/>
              </p:ext>
            </p:extLst>
          </p:nvPr>
        </p:nvGraphicFramePr>
        <p:xfrm>
          <a:off x="2032000" y="719666"/>
          <a:ext cx="8127999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/>
                <a:gridCol w="2709333"/>
                <a:gridCol w="270933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树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森林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二叉树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先根遍历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先序遍历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先序遍历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后根遍历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中序遍历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中序遍历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1748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129115"/>
              </p:ext>
            </p:extLst>
          </p:nvPr>
        </p:nvGraphicFramePr>
        <p:xfrm>
          <a:off x="2032000" y="719666"/>
          <a:ext cx="6773335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4667"/>
                <a:gridCol w="1354667"/>
                <a:gridCol w="1354667"/>
                <a:gridCol w="1354667"/>
                <a:gridCol w="135466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控制符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当前类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同一个包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子类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任何地方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private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default</a:t>
                      </a:r>
                      <a:endParaRPr lang="zh-CN" altLang="en-US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zh-CN" altLang="en-US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zh-CN" altLang="en-US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protected</a:t>
                      </a:r>
                      <a:endParaRPr lang="zh-CN" altLang="en-US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zh-CN" altLang="en-US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zh-CN" altLang="en-US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zh-CN" altLang="en-US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zh-CN" altLang="en-US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zh-CN" altLang="en-US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zh-CN" altLang="en-US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zh-CN" altLang="en-US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8770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7453522"/>
                  </p:ext>
                </p:extLst>
              </p:nvPr>
            </p:nvGraphicFramePr>
            <p:xfrm>
              <a:off x="418008" y="719662"/>
              <a:ext cx="11077304" cy="421881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582472"/>
                    <a:gridCol w="1582472"/>
                    <a:gridCol w="1582472"/>
                    <a:gridCol w="1582472"/>
                    <a:gridCol w="1582472"/>
                    <a:gridCol w="1582472"/>
                    <a:gridCol w="1582472"/>
                  </a:tblGrid>
                  <a:tr h="378303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类别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排序算法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时间复杂度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空间复杂度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稳定性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</a:tr>
                  <a:tr h="378303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最好情况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最坏情况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平均情况</a:t>
                          </a:r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</a:tr>
                  <a:tr h="448326"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插入排序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直接插入排序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O(n)</a:t>
                          </a:r>
                          <a:endParaRPr lang="zh-CN" altLang="en-US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O(1)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稳定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</a:tr>
                  <a:tr h="343823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折半插入排序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O(1)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稳定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</a:tr>
                  <a:tr h="378303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希尔排序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O(1)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不稳定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</a:tr>
                  <a:tr h="378303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交换排序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冒泡排序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O(n)</a:t>
                          </a:r>
                          <a:endParaRPr lang="zh-CN" altLang="en-US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O(1)</a:t>
                          </a:r>
                          <a:endParaRPr lang="zh-CN" altLang="en-US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稳定</a:t>
                          </a:r>
                        </a:p>
                      </a:txBody>
                      <a:tcPr anchor="ctr"/>
                    </a:tc>
                  </a:tr>
                  <a:tr h="378303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快速排序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</a:t>
                          </a:r>
                          <a:r>
                            <a:rPr lang="en-US" altLang="zh-CN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nlogn</a:t>
                          </a: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</a:t>
                          </a:r>
                          <a:r>
                            <a:rPr lang="en-US" altLang="zh-CN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nlogn</a:t>
                          </a: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altLang="en-US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</a:t>
                          </a:r>
                          <a:r>
                            <a:rPr lang="en-US" altLang="zh-CN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logn</a:t>
                          </a: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altLang="en-US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不稳定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</a:tr>
                  <a:tr h="378303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选择排序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简单选择排序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O(1)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不稳定</a:t>
                          </a:r>
                        </a:p>
                      </a:txBody>
                      <a:tcPr anchor="ctr"/>
                    </a:tc>
                  </a:tr>
                  <a:tr h="378303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堆排序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</a:t>
                          </a:r>
                          <a:r>
                            <a:rPr lang="en-US" altLang="zh-CN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nlogn</a:t>
                          </a: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altLang="en-US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</a:t>
                          </a:r>
                          <a:r>
                            <a:rPr lang="en-US" altLang="zh-CN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nlogn</a:t>
                          </a: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altLang="en-US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</a:t>
                          </a:r>
                          <a:r>
                            <a:rPr lang="en-US" altLang="zh-CN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nlogn</a:t>
                          </a: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altLang="en-US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O(1)</a:t>
                          </a:r>
                          <a:endParaRPr lang="zh-CN" altLang="en-US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不稳定</a:t>
                          </a:r>
                        </a:p>
                      </a:txBody>
                      <a:tcPr anchor="ctr"/>
                    </a:tc>
                  </a:tr>
                  <a:tr h="378303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归并排序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</a:t>
                          </a:r>
                          <a:r>
                            <a:rPr lang="en-US" altLang="zh-CN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nlogn</a:t>
                          </a: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altLang="en-US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</a:t>
                          </a:r>
                          <a:r>
                            <a:rPr lang="en-US" altLang="zh-CN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nlogn</a:t>
                          </a: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altLang="en-US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</a:t>
                          </a:r>
                          <a:r>
                            <a:rPr lang="en-US" altLang="zh-CN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nlogn</a:t>
                          </a: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altLang="en-US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O(n)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稳定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</a:tr>
                  <a:tr h="378303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基数排序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O(d(</a:t>
                          </a:r>
                          <a:r>
                            <a:rPr lang="en-US" altLang="zh-CN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n+r</a:t>
                          </a: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))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O(d(</a:t>
                          </a:r>
                          <a:r>
                            <a:rPr lang="en-US" altLang="zh-CN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n+r</a:t>
                          </a: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))</a:t>
                          </a:r>
                          <a:endParaRPr lang="zh-CN" altLang="en-US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O(d(</a:t>
                          </a:r>
                          <a:r>
                            <a:rPr lang="en-US" altLang="zh-CN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n+r</a:t>
                          </a: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))</a:t>
                          </a:r>
                          <a:endParaRPr lang="zh-CN" altLang="en-US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O(r)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稳定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7453522"/>
                  </p:ext>
                </p:extLst>
              </p:nvPr>
            </p:nvGraphicFramePr>
            <p:xfrm>
              <a:off x="418008" y="719662"/>
              <a:ext cx="11077304" cy="421881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582472"/>
                    <a:gridCol w="1582472"/>
                    <a:gridCol w="1582472"/>
                    <a:gridCol w="1582472"/>
                    <a:gridCol w="1582472"/>
                    <a:gridCol w="1582472"/>
                    <a:gridCol w="1582472"/>
                  </a:tblGrid>
                  <a:tr h="378303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类别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排序算法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时间复杂度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空间复杂度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稳定性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</a:tr>
                  <a:tr h="378303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最好情况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最坏情况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平均情况</a:t>
                          </a:r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</a:tr>
                  <a:tr h="448326"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插入排序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直接插入排序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O(n)</a:t>
                          </a:r>
                          <a:endParaRPr lang="zh-CN" altLang="en-US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300000" t="-175676" r="-300385" b="-6878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400000" t="-175676" r="-200385" b="-6878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O(1)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稳定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</a:tr>
                  <a:tr h="36576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折半插入排序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300000" t="-340000" r="-300385" b="-74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O(1)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稳定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</a:tr>
                  <a:tr h="378303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希尔排序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300000" t="-425806" r="-300385" b="-62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O(1)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不稳定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</a:tr>
                  <a:tr h="378303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交换排序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冒泡排序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O(n)</a:t>
                          </a:r>
                          <a:endParaRPr lang="zh-CN" altLang="en-US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300000" t="-525806" r="-300385" b="-52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400000" t="-525806" r="-200385" b="-52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O(1)</a:t>
                          </a:r>
                          <a:endParaRPr lang="zh-CN" altLang="en-US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稳定</a:t>
                          </a:r>
                        </a:p>
                      </a:txBody>
                      <a:tcPr anchor="ctr"/>
                    </a:tc>
                  </a:tr>
                  <a:tr h="378303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快速排序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</a:t>
                          </a:r>
                          <a:r>
                            <a:rPr lang="en-US" altLang="zh-CN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nlogn</a:t>
                          </a: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300000" t="-625806" r="-300385" b="-42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</a:t>
                          </a:r>
                          <a:r>
                            <a:rPr lang="en-US" altLang="zh-CN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nlogn</a:t>
                          </a: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altLang="en-US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</a:t>
                          </a:r>
                          <a:r>
                            <a:rPr lang="en-US" altLang="zh-CN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logn</a:t>
                          </a: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altLang="en-US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不稳定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</a:tr>
                  <a:tr h="378303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选择排序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简单选择排序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200000" t="-714286" r="-400385" b="-3174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300000" t="-714286" r="-300385" b="-3174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400000" t="-714286" r="-200385" b="-3174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O(1)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不稳定</a:t>
                          </a:r>
                        </a:p>
                      </a:txBody>
                      <a:tcPr anchor="ctr"/>
                    </a:tc>
                  </a:tr>
                  <a:tr h="378303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堆排序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</a:t>
                          </a:r>
                          <a:r>
                            <a:rPr lang="en-US" altLang="zh-CN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nlogn</a:t>
                          </a: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altLang="en-US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</a:t>
                          </a:r>
                          <a:r>
                            <a:rPr lang="en-US" altLang="zh-CN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nlogn</a:t>
                          </a: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altLang="en-US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</a:t>
                          </a:r>
                          <a:r>
                            <a:rPr lang="en-US" altLang="zh-CN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nlogn</a:t>
                          </a: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altLang="en-US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O(1)</a:t>
                          </a:r>
                          <a:endParaRPr lang="zh-CN" altLang="en-US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不稳定</a:t>
                          </a:r>
                        </a:p>
                      </a:txBody>
                      <a:tcPr anchor="ctr"/>
                    </a:tc>
                  </a:tr>
                  <a:tr h="378303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归并排序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</a:t>
                          </a:r>
                          <a:r>
                            <a:rPr lang="en-US" altLang="zh-CN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nlogn</a:t>
                          </a: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altLang="en-US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</a:t>
                          </a:r>
                          <a:r>
                            <a:rPr lang="en-US" altLang="zh-CN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nlogn</a:t>
                          </a: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altLang="en-US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</a:t>
                          </a:r>
                          <a:r>
                            <a:rPr lang="en-US" altLang="zh-CN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nlogn</a:t>
                          </a: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CN" altLang="en-US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O(n)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稳定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</a:tr>
                  <a:tr h="378303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基数排序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O(d(</a:t>
                          </a:r>
                          <a:r>
                            <a:rPr lang="en-US" altLang="zh-CN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n+r</a:t>
                          </a: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))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O(d(</a:t>
                          </a:r>
                          <a:r>
                            <a:rPr lang="en-US" altLang="zh-CN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n+r</a:t>
                          </a: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))</a:t>
                          </a:r>
                          <a:endParaRPr lang="zh-CN" altLang="en-US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O(d(</a:t>
                          </a:r>
                          <a:r>
                            <a:rPr lang="en-US" altLang="zh-CN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n+r</a:t>
                          </a:r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))</a:t>
                          </a:r>
                          <a:endParaRPr lang="zh-CN" altLang="en-US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O(r)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稳定</a:t>
                          </a:r>
                          <a:endParaRPr lang="zh-CN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60557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518160" y="1841863"/>
                <a:ext cx="11221213" cy="19424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1" smtClean="0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US" altLang="zh-CN" sz="2800" i="1">
                        <a:latin typeface="Cambria Math" panose="02040503050406030204" pitchFamily="18" charset="0"/>
                      </a:rPr>
                      <m:t>f</m:t>
                    </m:r>
                  </m:oMath>
                </a14:m>
                <a:r>
                  <a:rPr lang="zh-CN" alt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𝑎𝑇</m:t>
                    </m:r>
                    <m:d>
                      <m:d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  <m:d>
                              <m:dPr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p>
                                </m:sSup>
                                <m:func>
                                  <m:funcPr>
                                    <m:ctrl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28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</m:e>
                            </m:d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𝑖𝑓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p>
                            </m:sSup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  (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𝐶𝑎𝑠𝑒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 1)</m:t>
                            </m:r>
                          </m:e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  <m:d>
                              <m:dPr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             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𝑖𝑓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sSup>
                              <m:sSup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p>
                            </m:sSup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𝐶𝑎𝑠𝑒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 2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  <m:d>
                              <m:dPr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sSubSup>
                                      <m:sSubSupPr>
                                        <m:ctrlPr>
                                          <a:rPr lang="en-US" altLang="zh-CN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2800" b="0" i="1" smtClean="0">
                                            <a:latin typeface="Cambria Math" panose="02040503050406030204" pitchFamily="18" charset="0"/>
                                          </a:rPr>
                                          <m:t>𝑙𝑜𝑔</m:t>
                                        </m:r>
                                      </m:e>
                                      <m:sub>
                                        <m:r>
                                          <a:rPr lang="en-US" altLang="zh-CN" sz="2800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sub>
                                      <m:sup>
                                        <m:r>
                                          <a:rPr lang="en-US" altLang="zh-CN" sz="28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p>
                                    </m:sSubSup>
                                  </m:sup>
                                </m:sSup>
                              </m:e>
                            </m:d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        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𝑖𝑓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sSup>
                              <m:sSup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p>
                            </m:sSup>
                            <m:r>
                              <a:rPr lang="en-US" altLang="zh-CN" sz="2800" b="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𝐶𝑎𝑠𝑒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 3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eqArr>
                      </m:e>
                    </m:d>
                  </m:oMath>
                </a14:m>
                <a:endPara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0" y="1841863"/>
                <a:ext cx="11221213" cy="194245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9928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766456" y="1776549"/>
            <a:ext cx="1959430" cy="31350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RuntimeException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766456" y="2090058"/>
            <a:ext cx="1959430" cy="41801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190205" y="3326672"/>
            <a:ext cx="1959430" cy="31350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190205" y="3640181"/>
            <a:ext cx="1959430" cy="41801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408021" y="3326672"/>
            <a:ext cx="1959430" cy="31350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408021" y="3640181"/>
            <a:ext cx="1959430" cy="41801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766456" y="4876795"/>
            <a:ext cx="1959430" cy="31350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RuntimeException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766456" y="5190304"/>
            <a:ext cx="1959430" cy="41801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00891" y="4876795"/>
            <a:ext cx="1959430" cy="31350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OtherException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00891" y="5190304"/>
            <a:ext cx="1959430" cy="41801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直接连接符 12"/>
          <p:cNvCxnSpPr>
            <a:stCxn id="10" idx="0"/>
            <a:endCxn id="5" idx="2"/>
          </p:cNvCxnSpPr>
          <p:nvPr/>
        </p:nvCxnSpPr>
        <p:spPr>
          <a:xfrm flipV="1">
            <a:off x="1580606" y="4058192"/>
            <a:ext cx="1589314" cy="8186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等腰三角形 13"/>
          <p:cNvSpPr/>
          <p:nvPr/>
        </p:nvSpPr>
        <p:spPr>
          <a:xfrm rot="3767503">
            <a:off x="2888351" y="4149679"/>
            <a:ext cx="296092" cy="14804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0788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825</TotalTime>
  <Words>239</Words>
  <Application>Microsoft Office PowerPoint</Application>
  <PresentationFormat>宽屏</PresentationFormat>
  <Paragraphs>139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宋体</vt:lpstr>
      <vt:lpstr>Arial</vt:lpstr>
      <vt:lpstr>Calibri</vt:lpstr>
      <vt:lpstr>Calibri Light</vt:lpstr>
      <vt:lpstr>Cambria Math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epsilion H</dc:creator>
  <cp:lastModifiedBy>epsilion H</cp:lastModifiedBy>
  <cp:revision>31</cp:revision>
  <dcterms:created xsi:type="dcterms:W3CDTF">2017-04-13T12:41:51Z</dcterms:created>
  <dcterms:modified xsi:type="dcterms:W3CDTF">2017-04-18T12:20:05Z</dcterms:modified>
</cp:coreProperties>
</file>